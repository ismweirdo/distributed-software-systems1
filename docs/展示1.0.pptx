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73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4" r:id="rId20"/>
    <p:sldId id="275" r:id="rId21"/>
    <p:sldId id="277" r:id="rId22"/>
    <p:sldId id="276" r:id="rId23"/>
    <p:sldId id="279" r:id="rId24"/>
    <p:sldId id="278" r:id="rId25"/>
    <p:sldId id="280" r:id="rId26"/>
    <p:sldId id="270" r:id="rId27"/>
    <p:sldId id="271" r:id="rId28"/>
    <p:sldId id="272" r:id="rId29"/>
  </p:sldIdLst>
  <p:sldSz cx="24384000" cy="13716000"/>
  <p:notesSz cx="13716000" cy="24384000"/>
  <p:embeddedFontLst>
    <p:embeddedFont>
      <p:font typeface="ZCOOL KuaiLe" panose="00000500000000000000" pitchFamily="34" charset="0"/>
      <p:regular r:id="rId33"/>
    </p:embeddedFont>
    <p:embeddedFont>
      <p:font typeface="ZCOOL KuaiLe" panose="00000500000000000000" pitchFamily="34" charset="-122"/>
      <p:regular r:id="rId34"/>
    </p:embeddedFont>
    <p:embeddedFont>
      <p:font typeface="ZCOOL KuaiLe" panose="00000500000000000000" pitchFamily="34" charset="-120"/>
      <p:regular r:id="rId35"/>
    </p:embeddedFont>
    <p:embeddedFont>
      <p:font typeface="Liter" panose="02000503030000020004" pitchFamily="34" charset="0"/>
      <p:regular r:id="rId36"/>
    </p:embeddedFont>
    <p:embeddedFont>
      <p:font typeface="Liter" panose="02000503030000020004" pitchFamily="34" charset="-122"/>
      <p:regular r:id="rId37"/>
    </p:embeddedFont>
    <p:embeddedFont>
      <p:font typeface="Liter" panose="02000503030000020004" pitchFamily="34" charset="-120"/>
      <p:regular r:id="rId38"/>
    </p:embeddedFont>
    <p:embeddedFont>
      <p:font typeface="Calibri" panose="020F0502020204030204" charset="0"/>
      <p:regular r:id="rId39"/>
      <p:bold r:id="rId40"/>
      <p:italic r:id="rId41"/>
      <p:boldItalic r:id="rId42"/>
    </p:embeddedFont>
    <p:embeddedFont>
      <p:font typeface="汉仪超粗宋简" panose="02010600000101010101" charset="-122"/>
      <p:regular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font" Target="fonts/font11.fntdata"/><Relationship Id="rId42" Type="http://schemas.openxmlformats.org/officeDocument/2006/relationships/font" Target="fonts/font10.fntdata"/><Relationship Id="rId41" Type="http://schemas.openxmlformats.org/officeDocument/2006/relationships/font" Target="fonts/font9.fntdata"/><Relationship Id="rId40" Type="http://schemas.openxmlformats.org/officeDocument/2006/relationships/font" Target="fonts/font8.fntdata"/><Relationship Id="rId4" Type="http://schemas.openxmlformats.org/officeDocument/2006/relationships/slide" Target="slides/slide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7EC0DA"/>
              </a:solidFill>
              <a:effectLst/>
            </c:spPr>
          </c:dPt>
          <c:dPt>
            <c:idx val="1"/>
            <c:bubble3D val="0"/>
            <c:spPr>
              <a:solidFill>
                <a:srgbClr val="5A6C7D"/>
              </a:solidFill>
              <a:effectLst/>
            </c:spPr>
          </c:dPt>
          <c:dPt>
            <c:idx val="2"/>
            <c:bubble3D val="0"/>
            <c:spPr>
              <a:solidFill>
                <a:srgbClr val="3D7C8E"/>
              </a:solidFill>
              <a:effectLst/>
            </c:spPr>
          </c:dPt>
          <c:dPt>
            <c:idx val="3"/>
            <c:bubble3D val="0"/>
            <c:spPr>
              <a:solidFill>
                <a:srgbClr val="4A90A4"/>
              </a:solidFill>
              <a:effectLst/>
            </c:spPr>
          </c:dPt>
          <c:dPt>
            <c:idx val="4"/>
            <c:bubble3D val="0"/>
            <c:spPr>
              <a:solidFill>
                <a:srgbClr val="6B8F9E"/>
              </a:solidFill>
              <a:effectLst/>
            </c:spPr>
          </c:dPt>
          <c:dPt>
            <c:idx val="5"/>
            <c:bubble3D val="0"/>
            <c:spPr>
              <a:solidFill>
                <a:srgbClr val="8BAFB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6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6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6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6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6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6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Java</c:v>
                </c:pt>
                <c:pt idx="1">
                  <c:v>Python</c:v>
                </c:pt>
                <c:pt idx="2">
                  <c:v>Vue</c:v>
                </c:pt>
                <c:pt idx="3">
                  <c:v>Shell</c:v>
                </c:pt>
                <c:pt idx="4">
                  <c:v>JS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57.1</c:v>
                </c:pt>
                <c:pt idx="1">
                  <c:v>18.5</c:v>
                </c:pt>
                <c:pt idx="2">
                  <c:v>17.5</c:v>
                </c:pt>
                <c:pt idx="3">
                  <c:v>3.1</c:v>
                </c:pt>
                <c:pt idx="4">
                  <c:v>3</c:v>
                </c:pt>
                <c:pt idx="5">
                  <c:v>0.8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8e87575-ffe3-4d75-9e99-59f3f7ec78d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代码占比(%)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eeeeeeeex1</c:v>
                </c:pt>
                <c:pt idx="1">
                  <c:v>Ismweirdo</c:v>
                </c:pt>
                <c:pt idx="2">
                  <c:v>Jungle-Cristo</c:v>
                </c:pt>
                <c:pt idx="3">
                  <c:v>Jay7982024</c:v>
                </c:pt>
                <c:pt idx="4">
                  <c:v>Yuanxiaelf</c:v>
                </c:pt>
                <c:pt idx="5">
                  <c:v>kuuzzzzzzzzzz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18.4</c:v>
                </c:pt>
                <c:pt idx="2">
                  <c:v>18</c:v>
                </c:pt>
                <c:pt idx="3">
                  <c:v>15.3</c:v>
                </c:pt>
                <c:pt idx="4">
                  <c:v>15.1</c:v>
                </c:pt>
                <c:pt idx="5">
                  <c:v>17.2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5555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f12b38-e49e-4017-a789-7760f5570e3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zgo2hyw6fjeg/mnt/agents/output/ai-chat-system/images/1_Holographic_AI_Robot_Assistant_Emerging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7786" b="7786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2447632"/>
            <a:ext cx="16510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AI 即时通讯系统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Distributed Software Systems</a:t>
            </a:r>
            <a:endParaRPr lang="en-US" sz="9870" dirty="0"/>
          </a:p>
        </p:txBody>
      </p:sp>
      <p:sp>
        <p:nvSpPr>
          <p:cNvPr id="4" name="Text 1"/>
          <p:cNvSpPr/>
          <p:nvPr/>
        </p:nvSpPr>
        <p:spPr>
          <a:xfrm>
            <a:off x="1249680" y="7366000"/>
            <a:ext cx="1270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分布式系统课程项目 | 6人协作开发 | 21,633行代码</a:t>
            </a:r>
            <a:endParaRPr lang="en-US" sz="3730" dirty="0"/>
          </a:p>
        </p:txBody>
      </p:sp>
      <p:sp>
        <p:nvSpPr>
          <p:cNvPr id="5" name="Text 2"/>
          <p:cNvSpPr/>
          <p:nvPr/>
        </p:nvSpPr>
        <p:spPr>
          <a:xfrm>
            <a:off x="1249680" y="8264769"/>
            <a:ext cx="16510000" cy="21492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9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一个融合AI机器人化身能力的分布式即时通讯系统。用户可导入QQ聊天记录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39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系统自动蒸馏语言风格生成具有特定人格的AI机器人，支持多级记忆机制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39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和实时WebSocket通信。</a:t>
            </a:r>
            <a:endParaRPr lang="en-US" sz="2930" dirty="0"/>
          </a:p>
        </p:txBody>
      </p:sp>
      <p:sp>
        <p:nvSpPr>
          <p:cNvPr id="6" name="Shape 3"/>
          <p:cNvSpPr/>
          <p:nvPr/>
        </p:nvSpPr>
        <p:spPr>
          <a:xfrm>
            <a:off x="1249680" y="7112000"/>
            <a:ext cx="2540000" cy="50800"/>
          </a:xfrm>
          <a:prstGeom prst="rect">
            <a:avLst/>
          </a:prstGeom>
          <a:solidFill>
            <a:srgbClr val="7EC0DA"/>
          </a:solidFill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5400"/>
            <a:ext cx="762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目录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11506200"/>
            <a:ext cx="10414000" cy="78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1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AI即时通讯系统项目展示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970000" y="2540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5" name="Text 3"/>
          <p:cNvSpPr/>
          <p:nvPr/>
        </p:nvSpPr>
        <p:spPr>
          <a:xfrm>
            <a:off x="14478000" y="2413000"/>
            <a:ext cx="7620000" cy="736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项目概览与技术栈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70000" y="4445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7" name="Text 5"/>
          <p:cNvSpPr/>
          <p:nvPr/>
        </p:nvSpPr>
        <p:spPr>
          <a:xfrm>
            <a:off x="14478000" y="4318000"/>
            <a:ext cx="7620000" cy="736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核心创新 - AI Bot系统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970000" y="6350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9" name="Text 7"/>
          <p:cNvSpPr/>
          <p:nvPr/>
        </p:nvSpPr>
        <p:spPr>
          <a:xfrm>
            <a:off x="14478000" y="6223000"/>
            <a:ext cx="7620000" cy="736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通信架构与安全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970000" y="8255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1" name="Text 9"/>
          <p:cNvSpPr/>
          <p:nvPr/>
        </p:nvSpPr>
        <p:spPr>
          <a:xfrm>
            <a:off x="14478000" y="8128000"/>
            <a:ext cx="7620000" cy="736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工程实现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970000" y="10160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3" name="Text 11"/>
          <p:cNvSpPr/>
          <p:nvPr/>
        </p:nvSpPr>
        <p:spPr>
          <a:xfrm>
            <a:off x="14478000" y="10033000"/>
            <a:ext cx="7620000" cy="736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团队协作与展望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9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zgo2hyw6fjeg/mnt/agents/output/ai-chat-system/images/3_Dark_blue_technology_futuristic_background.png"/>
          <p:cNvPicPr>
            <a:picLocks noChangeAspect="1"/>
          </p:cNvPicPr>
          <p:nvPr/>
        </p:nvPicPr>
        <p:blipFill>
          <a:blip r:embed="rId1"/>
          <a:srcRect l="33667" r="33667"/>
          <a:stretch>
            <a:fillRect/>
          </a:stretch>
        </p:blipFill>
        <p:spPr>
          <a:xfrm>
            <a:off x="15849600" y="0"/>
            <a:ext cx="85344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4064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49680" y="5334000"/>
            <a:ext cx="1270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项目概览与技术栈</a:t>
            </a:r>
            <a:endParaRPr lang="en-US" sz="9870" dirty="0"/>
          </a:p>
        </p:txBody>
      </p:sp>
      <p:sp>
        <p:nvSpPr>
          <p:cNvPr id="5" name="Text 2"/>
          <p:cNvSpPr/>
          <p:nvPr/>
        </p:nvSpPr>
        <p:spPr>
          <a:xfrm>
            <a:off x="1249680" y="7366000"/>
            <a:ext cx="1143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3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融合AI能力的分布式即时通讯系统</a:t>
            </a:r>
            <a:endParaRPr lang="en-US" sz="3730" dirty="0"/>
          </a:p>
          <a:p>
            <a:pPr>
              <a:lnSpc>
                <a:spcPct val="100000"/>
              </a:lnSpc>
            </a:pPr>
            <a:r>
              <a:rPr lang="en-US" sz="43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21,633行代码 | 162个文件 | 6人协作开发</a:t>
            </a:r>
            <a:endParaRPr lang="en-US" sz="373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016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技术栈全景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249680" y="2286000"/>
            <a:ext cx="254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前端层</a:t>
            </a:r>
            <a:endParaRPr lang="en-US" sz="16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4064000" y="2286000"/>
            <a:ext cx="1016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Vue 3 + Vite + Element Plus + Pinia + Vue Router</a:t>
            </a:r>
            <a:endParaRPr lang="en-US" sz="16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249680" y="3048000"/>
            <a:ext cx="254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后端层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4064000" y="3048000"/>
            <a:ext cx="1016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Spring Boot 3 + MyBatis-Plus + Spring Security + JWT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249680" y="3810000"/>
            <a:ext cx="254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实时通信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4064000" y="3810000"/>
            <a:ext cx="1016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WebSocket STOMP (内置Broker + RabbitMQ Relay)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249680" y="4572000"/>
            <a:ext cx="254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存储层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4064000" y="4572000"/>
            <a:ext cx="1016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8.4 + Redis 7 + RabbitMQ 3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1249680" y="5334000"/>
            <a:ext cx="254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AI集成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4064000" y="5334000"/>
            <a:ext cx="1016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OpenAI兼容API (DeepSeek / OpenAI / 自定义LLM)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1249680" y="6096000"/>
            <a:ext cx="254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部署方案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4064000" y="6096000"/>
            <a:ext cx="1016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Docker Compose + Nginx反向代理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9680" y="72390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代码语言构成</a:t>
            </a:r>
            <a:endParaRPr lang="en-US" sz="16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1249680" y="8001000"/>
          <a:ext cx="889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8" name="Image 0" descr="https://kimi-img.moonshot.cn/pub/slides/okc/zzgo2hyw6fjeg/mnt/agents/output/ai-chat-system/images/4_Detail_Of_Network_Computers_In_Futuristic.png"/>
          <p:cNvPicPr>
            <a:picLocks noChangeAspect="1"/>
          </p:cNvPicPr>
          <p:nvPr/>
        </p:nvPicPr>
        <p:blipFill>
          <a:blip r:embed="rId14">
            <a:alphaModFix amt="40000"/>
          </a:blip>
          <a:srcRect l="25139" r="25139"/>
          <a:stretch>
            <a:fillRect/>
          </a:stretch>
        </p:blipFill>
        <p:spPr>
          <a:xfrm>
            <a:off x="15240000" y="2286000"/>
            <a:ext cx="7874000" cy="889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016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功能模块结构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1249680" y="2286000"/>
            <a:ext cx="6858000" cy="4318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5" name="Shape 3"/>
          <p:cNvSpPr/>
          <p:nvPr/>
        </p:nvSpPr>
        <p:spPr>
          <a:xfrm>
            <a:off x="1619250" y="254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2349500" y="2540000"/>
            <a:ext cx="533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基础IM功能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302000"/>
            <a:ext cx="5969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用户认证（注册/登录/JWT）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社交管理（好友/群组）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消息系统（私聊/群聊）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消息状态追踪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消息撤回/引用回复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63000" y="2286000"/>
            <a:ext cx="6858000" cy="4318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9" name="Shape 7"/>
          <p:cNvSpPr/>
          <p:nvPr/>
        </p:nvSpPr>
        <p:spPr>
          <a:xfrm>
            <a:off x="9201150" y="2540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36153" y="-9823"/>
                </a:moveTo>
                <a:cubicBezTo>
                  <a:pt x="347960" y="-1290"/>
                  <a:pt x="352326" y="14188"/>
                  <a:pt x="346968" y="27682"/>
                </a:cubicBezTo>
                <a:lnTo>
                  <a:pt x="269180" y="222250"/>
                </a:lnTo>
                <a:lnTo>
                  <a:pt x="412750" y="222250"/>
                </a:lnTo>
                <a:cubicBezTo>
                  <a:pt x="426145" y="222250"/>
                  <a:pt x="438051" y="230584"/>
                  <a:pt x="442615" y="243185"/>
                </a:cubicBezTo>
                <a:cubicBezTo>
                  <a:pt x="447179" y="255786"/>
                  <a:pt x="443309" y="269875"/>
                  <a:pt x="433090" y="278408"/>
                </a:cubicBezTo>
                <a:lnTo>
                  <a:pt x="147340" y="516533"/>
                </a:lnTo>
                <a:cubicBezTo>
                  <a:pt x="136128" y="525859"/>
                  <a:pt x="120154" y="526355"/>
                  <a:pt x="108347" y="517823"/>
                </a:cubicBezTo>
                <a:cubicBezTo>
                  <a:pt x="96540" y="509290"/>
                  <a:pt x="92174" y="493812"/>
                  <a:pt x="97532" y="480318"/>
                </a:cubicBezTo>
                <a:lnTo>
                  <a:pt x="175320" y="285750"/>
                </a:lnTo>
                <a:lnTo>
                  <a:pt x="31750" y="285750"/>
                </a:lnTo>
                <a:cubicBezTo>
                  <a:pt x="18355" y="285750"/>
                  <a:pt x="6449" y="277416"/>
                  <a:pt x="1885" y="264815"/>
                </a:cubicBezTo>
                <a:cubicBezTo>
                  <a:pt x="-2679" y="252214"/>
                  <a:pt x="1191" y="238125"/>
                  <a:pt x="11410" y="229592"/>
                </a:cubicBezTo>
                <a:lnTo>
                  <a:pt x="297160" y="-8533"/>
                </a:lnTo>
                <a:cubicBezTo>
                  <a:pt x="308372" y="-17859"/>
                  <a:pt x="324346" y="-18355"/>
                  <a:pt x="336153" y="-9823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9867900" y="2540000"/>
            <a:ext cx="533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实时通信基础设施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69400" y="3302000"/>
            <a:ext cx="5969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STOMP双模式设计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在线状态管理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全链路traceId追踪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Outbox Pattern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定时清理任务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281400" y="2286000"/>
            <a:ext cx="6858000" cy="4318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13" name="Shape 11"/>
          <p:cNvSpPr/>
          <p:nvPr/>
        </p:nvSpPr>
        <p:spPr>
          <a:xfrm>
            <a:off x="16624300" y="2540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4" name="Text 12"/>
          <p:cNvSpPr/>
          <p:nvPr/>
        </p:nvSpPr>
        <p:spPr>
          <a:xfrm>
            <a:off x="17386300" y="2540000"/>
            <a:ext cx="533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AI Bot系统（核心）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687800" y="3302000"/>
            <a:ext cx="5969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Bot生命周期管理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聊天记录导入/蒸馏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多AI平台支持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流式SSE对话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熔断保护机制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9680" y="7112000"/>
            <a:ext cx="11049000" cy="4318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17" name="Shape 15"/>
          <p:cNvSpPr/>
          <p:nvPr/>
        </p:nvSpPr>
        <p:spPr>
          <a:xfrm>
            <a:off x="1651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8" name="Text 16"/>
          <p:cNvSpPr/>
          <p:nvPr/>
        </p:nvSpPr>
        <p:spPr>
          <a:xfrm>
            <a:off x="2349500" y="7366000"/>
            <a:ext cx="533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AI记忆系统（L0-L3四层）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8128000"/>
            <a:ext cx="10160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</a:t>
            </a:r>
            <a:r>
              <a:rPr lang="en-US" sz="26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L0 工作记忆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：Redis，5轮对话，TTL 30min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</a:t>
            </a:r>
            <a:r>
              <a:rPr lang="en-US" sz="26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L1 短期记忆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：Redis List，30条消息，TTL 60min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</a:t>
            </a:r>
            <a:r>
              <a:rPr lang="en-US" sz="26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L2 长期记忆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：MySQL，50条/用户对，重要性评分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</a:t>
            </a:r>
            <a:r>
              <a:rPr lang="en-US" sz="26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L3 语义记忆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：向量表，500条/用户对，RAG检索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</a:t>
            </a:r>
            <a:r>
              <a:rPr lang="en-US" sz="26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自动整合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：短期&gt;20条 → LLM分析 → 长期存储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674600" y="7112000"/>
            <a:ext cx="10464800" cy="4318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21" name="Shape 19"/>
          <p:cNvSpPr/>
          <p:nvPr/>
        </p:nvSpPr>
        <p:spPr>
          <a:xfrm>
            <a:off x="13081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22" name="Text 20"/>
          <p:cNvSpPr/>
          <p:nvPr/>
        </p:nvSpPr>
        <p:spPr>
          <a:xfrm>
            <a:off x="13779500" y="7366000"/>
            <a:ext cx="533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系统安全特性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081000" y="8128000"/>
            <a:ext cx="9652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登录保护（IP限流+账号锁定）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全链路请求追踪（traceId）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文件安全（路径遍历防护）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消息可靠性（Outbox Pattern）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性能监控（Micrometer）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0" grpId="0"/>
      <p:bldP spid="11" grpId="0"/>
      <p:bldP spid="14" grpId="0"/>
      <p:bldP spid="15" grpId="0"/>
      <p:bldP spid="18" grpId="0"/>
      <p:bldP spid="19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49680" y="4064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49680" y="5334000"/>
            <a:ext cx="15761335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核心创新 - AI Bot系统</a:t>
            </a:r>
            <a:endParaRPr lang="en-US" sz="9870" dirty="0"/>
          </a:p>
        </p:txBody>
      </p:sp>
      <p:sp>
        <p:nvSpPr>
          <p:cNvPr id="5" name="Text 2"/>
          <p:cNvSpPr/>
          <p:nvPr/>
        </p:nvSpPr>
        <p:spPr>
          <a:xfrm>
            <a:off x="1249680" y="7366000"/>
            <a:ext cx="15243175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聊天记录导入 → 特征蒸馏 → 个性化AI Bot自动生成</a:t>
            </a:r>
            <a:endParaRPr lang="en-US" sz="373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7955" y="0"/>
            <a:ext cx="7726045" cy="13720445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AI Bot化身系统深掘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1249680" y="2286000"/>
            <a:ext cx="21882100" cy="1016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5" name="Text 3"/>
          <p:cNvSpPr/>
          <p:nvPr/>
        </p:nvSpPr>
        <p:spPr>
          <a:xfrm>
            <a:off x="1651000" y="2349500"/>
            <a:ext cx="2108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背景问题：</a:t>
            </a:r>
            <a:r>
              <a:rPr lang="en-US" sz="3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传统虚拟助手难以还原真人风格，需要手工编写复杂提示词，成本高且风格生硬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9680" y="3810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7" name="Text 5"/>
          <p:cNvSpPr/>
          <p:nvPr/>
        </p:nvSpPr>
        <p:spPr>
          <a:xfrm>
            <a:off x="1651000" y="3683000"/>
            <a:ext cx="635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第一步 | 聊天记录导入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438150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支持QQ(QQCE) / 微信 / JSON / JSONL格式导入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解析时间戳、发送者、消息体、多媒体引用，最少100条消息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9680" y="5969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1651000" y="5842000"/>
            <a:ext cx="762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第二步 | 特征蒸馏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51000" y="6540500"/>
            <a:ext cx="317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情绪特征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7048500"/>
            <a:ext cx="4826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六维情绪分布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joy/care/sad/surprise/anger/fear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0.0-1.0归一化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6540500"/>
            <a:ext cx="317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语言风格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7048500"/>
            <a:ext cx="4826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句长统计 / Emoji使用率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语气词频率 / 问句比例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习惯用语提取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65000" y="6540500"/>
            <a:ext cx="317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表达模式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65000" y="7048500"/>
            <a:ext cx="4826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标点偏好 / 断句节奏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对话策略 / 知识边界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擅长话题与回避话题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9680" y="9144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8" name="Text 16"/>
          <p:cNvSpPr/>
          <p:nvPr/>
        </p:nvSpPr>
        <p:spPr>
          <a:xfrm>
            <a:off x="1651000" y="9017000"/>
            <a:ext cx="762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第三步 | Skill自动生成（SKILL.md）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9715500"/>
            <a:ext cx="99060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system_prompt + emotion_profile + language_style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+ few_shot_examples + conversation_mode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→ 一键生成具有真人风格的AI机器人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49680" y="11874500"/>
            <a:ext cx="21882100" cy="1016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21" name="Text 19"/>
          <p:cNvSpPr/>
          <p:nvPr/>
        </p:nvSpPr>
        <p:spPr>
          <a:xfrm>
            <a:off x="1651000" y="11938000"/>
            <a:ext cx="2108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效果：</a:t>
            </a:r>
            <a:r>
              <a:rPr lang="en-US" sz="28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20+个Bot同时在线，各具独特人格，回复风格差异明显，自然度高，口癖和表达方式保留真人特征</a:t>
            </a:r>
            <a:endParaRPr lang="en-US" sz="16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9090" y="3486150"/>
            <a:ext cx="4173855" cy="269875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softEdge rad="63500"/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975" y="8763635"/>
            <a:ext cx="9564370" cy="317436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63500"/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AI Bot化身系统深掘</a:t>
            </a:r>
            <a:endParaRPr lang="zh-CN" altLang="en-US" sz="5600" b="1" kern="0" spc="-120" dirty="0">
              <a:solidFill>
                <a:srgbClr val="FFFFFF"/>
              </a:solidFill>
              <a:latin typeface="ZCOOL KuaiLe" panose="00000500000000000000" pitchFamily="34" charset="0"/>
              <a:ea typeface="宋体" panose="02010600030101010101" pitchFamily="2" charset="-122"/>
              <a:cs typeface="ZCOOL KuaiLe" panose="00000500000000000000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20" name="Shape 18"/>
          <p:cNvSpPr/>
          <p:nvPr/>
        </p:nvSpPr>
        <p:spPr>
          <a:xfrm>
            <a:off x="1249680" y="11874500"/>
            <a:ext cx="21882100" cy="1016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21" name="Text 19"/>
          <p:cNvSpPr/>
          <p:nvPr/>
        </p:nvSpPr>
        <p:spPr>
          <a:xfrm>
            <a:off x="1651000" y="11938000"/>
            <a:ext cx="2108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效果：</a:t>
            </a:r>
            <a:r>
              <a:rPr lang="en-US" sz="28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20+个Bot同时在线，各具独特人格，回复风格差异明显，自然度高，口癖和表达方式保留真人特征</a:t>
            </a:r>
            <a:endParaRPr lang="en-US" sz="16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7285" y="2416175"/>
            <a:ext cx="15385415" cy="926846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多级记忆系统（脑容量模型）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1249680" y="2286000"/>
            <a:ext cx="5334000" cy="3175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524000" y="2413000"/>
            <a:ext cx="4826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L0 工作记忆</a:t>
            </a:r>
            <a:endParaRPr lang="en-US" sz="16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524000" y="3048000"/>
            <a:ext cx="4826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Redis String存储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5轮对话（≤3000字符/轮）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TTL 30分钟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每次对话都注入</a:t>
            </a:r>
            <a:endParaRPr lang="en-US" sz="16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959600" y="2286000"/>
            <a:ext cx="5334000" cy="3175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239000" y="2413000"/>
            <a:ext cx="4826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L1 短期记忆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7239000" y="3048000"/>
            <a:ext cx="4826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Redis List滑动窗口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30条消息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TTL 60分钟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降级回退MySQL</a:t>
            </a: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12674600" y="2286000"/>
            <a:ext cx="5334000" cy="3175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2954000" y="2413000"/>
            <a:ext cx="4826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L2 长期记忆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12954000" y="3048000"/>
            <a:ext cx="4826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MySQL持久化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50条/用户对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fact / preference / summary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重要性评分1-5</a:t>
            </a:r>
            <a:endParaRPr lang="en-US" sz="160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18389600" y="2286000"/>
            <a:ext cx="4749800" cy="3175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8669000" y="2413000"/>
            <a:ext cx="4191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L3 语义记忆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8669000" y="30480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MySQL向量表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500条/用户对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余弦相似度Top-K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关键词Jaccard降级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9680" y="5715000"/>
            <a:ext cx="482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自动记忆整合流程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40000" y="6985000"/>
            <a:ext cx="0" cy="63500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1249680" y="6477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短期记忆 &gt; 20条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9680" y="7620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LLM分析对话提取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540000" y="8191500"/>
            <a:ext cx="0" cy="57150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249680" y="8890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提取事实/偏好/摘要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40000" y="9525000"/>
            <a:ext cx="0" cy="50800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1249680" y="10160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存入长期 + 向量化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0000" y="5715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LLM上下文构建优先级（buildContext）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0000" y="6477000"/>
            <a:ext cx="16510000" cy="444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1.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System Prompt（5层组合：Skill + 情感 + 语言风格 + 对话模式 + 压缩）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2.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Working Memory L0（5轮完整对话）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3.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Few-Shot Examples（4-8组示例对话）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4.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Short-Term Memory L1（30条消息窗口）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5.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Long-Term Memory L2（重要性Top 5记忆）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6.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RAG Retrieval L3（向量相似度Top-K去重）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7.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Current Message（用户当前输入）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6" grpId="0"/>
      <p:bldP spid="18" grpId="0"/>
      <p:bldP spid="19" grpId="0"/>
      <p:bldP spid="21" grpId="0"/>
      <p:bldP spid="23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zgo2hyw6fjeg/mnt/agents/output/ai-chat-system/images/6_110_Digital_Shield_Lock_Symbol_Representing.png"/>
          <p:cNvPicPr>
            <a:picLocks noChangeAspect="1"/>
          </p:cNvPicPr>
          <p:nvPr/>
        </p:nvPicPr>
        <p:blipFill>
          <a:blip r:embed="rId1"/>
          <a:srcRect l="32500" r="32500"/>
          <a:stretch>
            <a:fillRect/>
          </a:stretch>
        </p:blipFill>
        <p:spPr>
          <a:xfrm>
            <a:off x="15849600" y="0"/>
            <a:ext cx="85344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4064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49680" y="5334000"/>
            <a:ext cx="1270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通信架构与安全</a:t>
            </a:r>
            <a:endParaRPr lang="en-US" sz="9870" dirty="0"/>
          </a:p>
        </p:txBody>
      </p:sp>
      <p:sp>
        <p:nvSpPr>
          <p:cNvPr id="5" name="Text 2"/>
          <p:cNvSpPr/>
          <p:nvPr/>
        </p:nvSpPr>
        <p:spPr>
          <a:xfrm>
            <a:off x="1249680" y="7366000"/>
            <a:ext cx="1143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7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WebSocket双模式实时通信</a:t>
            </a:r>
            <a:endParaRPr lang="en-US" sz="3730" dirty="0"/>
          </a:p>
          <a:p>
            <a:pPr>
              <a:lnSpc>
                <a:spcPct val="100000"/>
              </a:lnSpc>
            </a:pPr>
            <a:r>
              <a:rPr lang="en-US" sz="47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多层安全可靠性设计</a:t>
            </a:r>
            <a:endParaRPr lang="en-US" sz="373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WebSocket实时通信架构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1249680" y="2286000"/>
            <a:ext cx="10541000" cy="3429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5" name="Text 3"/>
          <p:cNvSpPr/>
          <p:nvPr/>
        </p:nvSpPr>
        <p:spPr>
          <a:xfrm>
            <a:off x="1524000" y="2413000"/>
            <a:ext cx="635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模式一 | 内置Broker (Simple)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3111500"/>
            <a:ext cx="9982200" cy="247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使用场景：单机部署、开发测试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优点：开箱即用、低延迟、无额外依赖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消息流：Client ↔ Server内存Broker ↔ Client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特点：内存存储，重启丢失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674600" y="2286000"/>
            <a:ext cx="10464800" cy="3429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8" name="Text 6"/>
          <p:cNvSpPr/>
          <p:nvPr/>
        </p:nvSpPr>
        <p:spPr>
          <a:xfrm>
            <a:off x="12954000" y="2413000"/>
            <a:ext cx="635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模式二 | RabbitMQ Relay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0" y="3111500"/>
            <a:ext cx="9906000" cy="247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使用场景：分布式部署、生产环境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优点：集群扩展、消息持久化、高可用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消息流：Client ↔ Server ↔ RabbitMQ ↔ Client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特点：队列持久化，支持故障恢复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9680" y="60325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消息完整流程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9680" y="6794500"/>
            <a:ext cx="21882100" cy="22225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12" name="Text 10"/>
          <p:cNvSpPr/>
          <p:nvPr/>
        </p:nvSpPr>
        <p:spPr>
          <a:xfrm>
            <a:off x="1651000" y="6858000"/>
            <a:ext cx="21082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用户发送消息 → STOMP /app/chat.send 端点 → 消息持久化到MySQL → 判断目标是Bot还是真人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├─ 目标是真人：</a:t>
            </a: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直接WS广播推送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→ 接收者设备收到消息，前端更新UI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└─ 目标是Bot：</a:t>
            </a: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异步任务处理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 → 熔断检查 → 信号量获取 → buildContext(L0-L3) → LLM API(流式SSE) → WS逐Token推送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9680" y="9271000"/>
            <a:ext cx="762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WebSocket连接建立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9680" y="10033000"/>
            <a:ext cx="218821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客户端发起WS连接 → AuthHandshakeInterceptor拦截 → 从Header提取JWT Token → 验证Token有效性 → ConnectionId生成 + 用户映射存储 → WebSocket连接确立 + 心跳保活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9680" y="11684000"/>
            <a:ext cx="218821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性能特性：心跳保活 | SockJS降级 | 断线重连 | STOMP receipt确认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安全与可靠性设计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1249680" y="2286000"/>
            <a:ext cx="6858000" cy="4826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5" name="Shape 3"/>
          <p:cNvSpPr/>
          <p:nvPr/>
        </p:nvSpPr>
        <p:spPr>
          <a:xfrm>
            <a:off x="1581150" y="2476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2159000" y="2476500"/>
            <a:ext cx="558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登录安全保护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3111500"/>
            <a:ext cx="6223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IP级限流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5次失败→锁定15分钟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Caffeine本地缓存（毫秒响应）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账号锁定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5次失败→锁定15分钟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双层降级</a:t>
            </a: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：Caffeine → Redis → MySQL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63000" y="2286000"/>
            <a:ext cx="6858000" cy="4826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9" name="Shape 7"/>
          <p:cNvSpPr/>
          <p:nvPr/>
        </p:nvSpPr>
        <p:spPr>
          <a:xfrm>
            <a:off x="90424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9677400" y="2476500"/>
            <a:ext cx="558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请求追踪系统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42400" y="3111500"/>
            <a:ext cx="6223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每个HTTP请求生成唯一UUID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traceId贯穿整个业务逻辑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MDC自动注入线程上下文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所有日志自动携带traceId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响应头返回 X-Trace-Id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便于分布式环境日志追踪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281400" y="2286000"/>
            <a:ext cx="6858000" cy="4826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13" name="Shape 11"/>
          <p:cNvSpPr/>
          <p:nvPr/>
        </p:nvSpPr>
        <p:spPr>
          <a:xfrm>
            <a:off x="16503650" y="2476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100013"/>
                </a:moveTo>
                <a:cubicBezTo>
                  <a:pt x="57150" y="76349"/>
                  <a:pt x="76349" y="57150"/>
                  <a:pt x="100013" y="57150"/>
                </a:cubicBezTo>
                <a:lnTo>
                  <a:pt x="471488" y="57150"/>
                </a:lnTo>
                <a:cubicBezTo>
                  <a:pt x="495151" y="57150"/>
                  <a:pt x="514350" y="76349"/>
                  <a:pt x="514350" y="100013"/>
                </a:cubicBezTo>
                <a:lnTo>
                  <a:pt x="514350" y="172700"/>
                </a:lnTo>
                <a:cubicBezTo>
                  <a:pt x="492562" y="162699"/>
                  <a:pt x="468451" y="157163"/>
                  <a:pt x="442913" y="157163"/>
                </a:cubicBezTo>
                <a:cubicBezTo>
                  <a:pt x="364599" y="157163"/>
                  <a:pt x="298519" y="209669"/>
                  <a:pt x="277981" y="281464"/>
                </a:cubicBezTo>
                <a:cubicBezTo>
                  <a:pt x="271641" y="280303"/>
                  <a:pt x="265390" y="277713"/>
                  <a:pt x="260033" y="273606"/>
                </a:cubicBezTo>
                <a:lnTo>
                  <a:pt x="74295" y="134302"/>
                </a:lnTo>
                <a:cubicBezTo>
                  <a:pt x="63490" y="126176"/>
                  <a:pt x="57150" y="113496"/>
                  <a:pt x="57150" y="100013"/>
                </a:cubicBezTo>
                <a:close/>
                <a:moveTo>
                  <a:pt x="271463" y="328613"/>
                </a:moveTo>
                <a:cubicBezTo>
                  <a:pt x="271463" y="354151"/>
                  <a:pt x="276999" y="378262"/>
                  <a:pt x="287000" y="400050"/>
                </a:cubicBezTo>
                <a:lnTo>
                  <a:pt x="114300" y="400050"/>
                </a:lnTo>
                <a:cubicBezTo>
                  <a:pt x="82778" y="400050"/>
                  <a:pt x="57150" y="374422"/>
                  <a:pt x="57150" y="342900"/>
                </a:cubicBezTo>
                <a:lnTo>
                  <a:pt x="57150" y="175022"/>
                </a:lnTo>
                <a:lnTo>
                  <a:pt x="234315" y="307896"/>
                </a:lnTo>
                <a:cubicBezTo>
                  <a:pt x="245566" y="316290"/>
                  <a:pt x="258336" y="321647"/>
                  <a:pt x="271552" y="323880"/>
                </a:cubicBezTo>
                <a:cubicBezTo>
                  <a:pt x="271552" y="325487"/>
                  <a:pt x="271462" y="327005"/>
                  <a:pt x="271462" y="328613"/>
                </a:cubicBezTo>
                <a:close/>
                <a:moveTo>
                  <a:pt x="314325" y="328613"/>
                </a:moveTo>
                <a:cubicBezTo>
                  <a:pt x="314325" y="257643"/>
                  <a:pt x="371943" y="200025"/>
                  <a:pt x="442913" y="200025"/>
                </a:cubicBezTo>
                <a:cubicBezTo>
                  <a:pt x="513882" y="200025"/>
                  <a:pt x="571500" y="257643"/>
                  <a:pt x="571500" y="328613"/>
                </a:cubicBezTo>
                <a:cubicBezTo>
                  <a:pt x="571500" y="399582"/>
                  <a:pt x="513882" y="457200"/>
                  <a:pt x="442913" y="457200"/>
                </a:cubicBezTo>
                <a:cubicBezTo>
                  <a:pt x="371943" y="457200"/>
                  <a:pt x="314325" y="399582"/>
                  <a:pt x="314325" y="328613"/>
                </a:cubicBezTo>
                <a:close/>
                <a:moveTo>
                  <a:pt x="494169" y="274231"/>
                </a:moveTo>
                <a:cubicBezTo>
                  <a:pt x="487829" y="269587"/>
                  <a:pt x="478810" y="271016"/>
                  <a:pt x="474166" y="277356"/>
                </a:cubicBezTo>
                <a:lnTo>
                  <a:pt x="426839" y="342454"/>
                </a:lnTo>
                <a:lnTo>
                  <a:pt x="402908" y="318522"/>
                </a:lnTo>
                <a:cubicBezTo>
                  <a:pt x="397371" y="312986"/>
                  <a:pt x="388263" y="312986"/>
                  <a:pt x="382726" y="318522"/>
                </a:cubicBezTo>
                <a:cubicBezTo>
                  <a:pt x="377190" y="324058"/>
                  <a:pt x="377190" y="333167"/>
                  <a:pt x="382726" y="338703"/>
                </a:cubicBezTo>
                <a:lnTo>
                  <a:pt x="418445" y="374422"/>
                </a:lnTo>
                <a:cubicBezTo>
                  <a:pt x="421392" y="377369"/>
                  <a:pt x="425500" y="378887"/>
                  <a:pt x="429697" y="378529"/>
                </a:cubicBezTo>
                <a:cubicBezTo>
                  <a:pt x="433894" y="378172"/>
                  <a:pt x="437644" y="376029"/>
                  <a:pt x="440144" y="372725"/>
                </a:cubicBezTo>
                <a:lnTo>
                  <a:pt x="497294" y="294144"/>
                </a:lnTo>
                <a:cubicBezTo>
                  <a:pt x="501938" y="287804"/>
                  <a:pt x="500509" y="278785"/>
                  <a:pt x="494169" y="274231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4" name="Text 12"/>
          <p:cNvSpPr/>
          <p:nvPr/>
        </p:nvSpPr>
        <p:spPr>
          <a:xfrm>
            <a:off x="17195800" y="2476500"/>
            <a:ext cx="558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Outbox 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60800" y="3111500"/>
            <a:ext cx="6223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第一阶段 - 本地事务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消息表 + 发件箱表双写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同一数据库事务原子性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第二阶段 - 异步消费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定时扫描发件箱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失败重试，最多一次投递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9680" y="7620000"/>
            <a:ext cx="11049000" cy="3556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17" name="Shape 15"/>
          <p:cNvSpPr/>
          <p:nvPr/>
        </p:nvSpPr>
        <p:spPr>
          <a:xfrm>
            <a:off x="1495425" y="7810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0"/>
                </a:moveTo>
                <a:cubicBezTo>
                  <a:pt x="54203" y="0"/>
                  <a:pt x="28575" y="25628"/>
                  <a:pt x="28575" y="57150"/>
                </a:cubicBezTo>
                <a:lnTo>
                  <a:pt x="28575" y="400050"/>
                </a:lnTo>
                <a:cubicBezTo>
                  <a:pt x="28575" y="431572"/>
                  <a:pt x="54203" y="457200"/>
                  <a:pt x="85725" y="457200"/>
                </a:cubicBezTo>
                <a:lnTo>
                  <a:pt x="265390" y="457200"/>
                </a:lnTo>
                <a:cubicBezTo>
                  <a:pt x="233065" y="419160"/>
                  <a:pt x="214313" y="370136"/>
                  <a:pt x="214313" y="318254"/>
                </a:cubicBezTo>
                <a:lnTo>
                  <a:pt x="214313" y="290483"/>
                </a:lnTo>
                <a:cubicBezTo>
                  <a:pt x="214313" y="259765"/>
                  <a:pt x="233958" y="232440"/>
                  <a:pt x="263158" y="222706"/>
                </a:cubicBezTo>
                <a:lnTo>
                  <a:pt x="363170" y="189399"/>
                </a:lnTo>
                <a:cubicBezTo>
                  <a:pt x="365939" y="188506"/>
                  <a:pt x="368707" y="187791"/>
                  <a:pt x="371475" y="187166"/>
                </a:cubicBezTo>
                <a:lnTo>
                  <a:pt x="371475" y="152251"/>
                </a:lnTo>
                <a:cubicBezTo>
                  <a:pt x="371475" y="137071"/>
                  <a:pt x="365492" y="122515"/>
                  <a:pt x="354776" y="111800"/>
                </a:cubicBezTo>
                <a:lnTo>
                  <a:pt x="259586" y="16699"/>
                </a:lnTo>
                <a:cubicBezTo>
                  <a:pt x="248870" y="5983"/>
                  <a:pt x="234404" y="0"/>
                  <a:pt x="219224" y="0"/>
                </a:cubicBezTo>
                <a:lnTo>
                  <a:pt x="85725" y="0"/>
                </a:lnTo>
                <a:close/>
                <a:moveTo>
                  <a:pt x="319236" y="157163"/>
                </a:moveTo>
                <a:lnTo>
                  <a:pt x="235744" y="157163"/>
                </a:lnTo>
                <a:cubicBezTo>
                  <a:pt x="223867" y="157163"/>
                  <a:pt x="214313" y="147608"/>
                  <a:pt x="214313" y="135731"/>
                </a:cubicBezTo>
                <a:lnTo>
                  <a:pt x="214313" y="52239"/>
                </a:lnTo>
                <a:lnTo>
                  <a:pt x="319236" y="157163"/>
                </a:lnTo>
                <a:close/>
                <a:moveTo>
                  <a:pt x="397639" y="436215"/>
                </a:moveTo>
                <a:lnTo>
                  <a:pt x="385763" y="441841"/>
                </a:lnTo>
                <a:lnTo>
                  <a:pt x="385763" y="273874"/>
                </a:lnTo>
                <a:lnTo>
                  <a:pt x="471488" y="302449"/>
                </a:lnTo>
                <a:lnTo>
                  <a:pt x="471488" y="319951"/>
                </a:lnTo>
                <a:cubicBezTo>
                  <a:pt x="471488" y="369778"/>
                  <a:pt x="442734" y="415052"/>
                  <a:pt x="397639" y="436305"/>
                </a:cubicBezTo>
                <a:close/>
                <a:moveTo>
                  <a:pt x="376744" y="231725"/>
                </a:moveTo>
                <a:lnTo>
                  <a:pt x="276731" y="265033"/>
                </a:lnTo>
                <a:cubicBezTo>
                  <a:pt x="265033" y="268962"/>
                  <a:pt x="257175" y="279856"/>
                  <a:pt x="257175" y="292179"/>
                </a:cubicBezTo>
                <a:lnTo>
                  <a:pt x="257175" y="319951"/>
                </a:lnTo>
                <a:cubicBezTo>
                  <a:pt x="257175" y="386388"/>
                  <a:pt x="295573" y="446842"/>
                  <a:pt x="355580" y="475059"/>
                </a:cubicBezTo>
                <a:lnTo>
                  <a:pt x="372100" y="482828"/>
                </a:lnTo>
                <a:cubicBezTo>
                  <a:pt x="376386" y="484793"/>
                  <a:pt x="381030" y="485864"/>
                  <a:pt x="385673" y="485864"/>
                </a:cubicBezTo>
                <a:cubicBezTo>
                  <a:pt x="390317" y="485864"/>
                  <a:pt x="395049" y="484793"/>
                  <a:pt x="399246" y="482828"/>
                </a:cubicBezTo>
                <a:lnTo>
                  <a:pt x="415766" y="475059"/>
                </a:lnTo>
                <a:cubicBezTo>
                  <a:pt x="475952" y="446752"/>
                  <a:pt x="514350" y="386298"/>
                  <a:pt x="514350" y="319861"/>
                </a:cubicBezTo>
                <a:lnTo>
                  <a:pt x="514350" y="292090"/>
                </a:lnTo>
                <a:cubicBezTo>
                  <a:pt x="514350" y="279767"/>
                  <a:pt x="506492" y="268873"/>
                  <a:pt x="494794" y="264944"/>
                </a:cubicBezTo>
                <a:lnTo>
                  <a:pt x="394781" y="231636"/>
                </a:lnTo>
                <a:cubicBezTo>
                  <a:pt x="388888" y="229672"/>
                  <a:pt x="382548" y="229672"/>
                  <a:pt x="376744" y="231636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8" name="Text 16"/>
          <p:cNvSpPr/>
          <p:nvPr/>
        </p:nvSpPr>
        <p:spPr>
          <a:xfrm>
            <a:off x="2159000" y="7810500"/>
            <a:ext cx="508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文件上传安全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8445500"/>
            <a:ext cx="1041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路径遍历防护：规范化路径 + canonical检查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文件类型白名单：jpg/png/gif/mp4/pdf/docx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文件大小限制：默认50MB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随机UUID文件名，删除特殊字符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674600" y="7620000"/>
            <a:ext cx="10464800" cy="35560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21" name="Shape 19"/>
          <p:cNvSpPr/>
          <p:nvPr/>
        </p:nvSpPr>
        <p:spPr>
          <a:xfrm>
            <a:off x="12954000" y="781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314325"/>
                </a:moveTo>
                <a:lnTo>
                  <a:pt x="0" y="114300"/>
                </a:lnTo>
                <a:cubicBezTo>
                  <a:pt x="0" y="66973"/>
                  <a:pt x="38398" y="28575"/>
                  <a:pt x="85725" y="28575"/>
                </a:cubicBezTo>
                <a:lnTo>
                  <a:pt x="371475" y="28575"/>
                </a:lnTo>
                <a:cubicBezTo>
                  <a:pt x="418802" y="28575"/>
                  <a:pt x="457200" y="66973"/>
                  <a:pt x="457200" y="114300"/>
                </a:cubicBezTo>
                <a:lnTo>
                  <a:pt x="457200" y="314325"/>
                </a:lnTo>
                <a:cubicBezTo>
                  <a:pt x="457200" y="361652"/>
                  <a:pt x="418802" y="400050"/>
                  <a:pt x="371475" y="400050"/>
                </a:cubicBezTo>
                <a:lnTo>
                  <a:pt x="264319" y="400050"/>
                </a:lnTo>
                <a:cubicBezTo>
                  <a:pt x="259675" y="400050"/>
                  <a:pt x="255210" y="401568"/>
                  <a:pt x="251460" y="404336"/>
                </a:cubicBezTo>
                <a:lnTo>
                  <a:pt x="148590" y="481489"/>
                </a:lnTo>
                <a:cubicBezTo>
                  <a:pt x="144840" y="484257"/>
                  <a:pt x="140375" y="485775"/>
                  <a:pt x="135731" y="485775"/>
                </a:cubicBezTo>
                <a:cubicBezTo>
                  <a:pt x="123855" y="485775"/>
                  <a:pt x="114300" y="476220"/>
                  <a:pt x="114300" y="464344"/>
                </a:cubicBezTo>
                <a:lnTo>
                  <a:pt x="114300" y="400050"/>
                </a:lnTo>
                <a:lnTo>
                  <a:pt x="85725" y="400050"/>
                </a:lnTo>
                <a:cubicBezTo>
                  <a:pt x="38398" y="400050"/>
                  <a:pt x="0" y="361652"/>
                  <a:pt x="0" y="314325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22" name="Text 20"/>
          <p:cNvSpPr/>
          <p:nvPr/>
        </p:nvSpPr>
        <p:spPr>
          <a:xfrm>
            <a:off x="13589000" y="7810500"/>
            <a:ext cx="508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消息状态机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54000" y="8445500"/>
            <a:ext cx="990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消息生命周期：SENT → DELIVERED → READ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撤回机制：发送后2分钟内可撤回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支持删除单条消息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支持清空全部聊天记录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0" grpId="0"/>
      <p:bldP spid="11" grpId="0"/>
      <p:bldP spid="14" grpId="0"/>
      <p:bldP spid="15" grpId="0"/>
      <p:bldP spid="18" grpId="0"/>
      <p:bldP spid="19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49680" y="4064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49680" y="5334000"/>
            <a:ext cx="1270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工程实现</a:t>
            </a:r>
            <a:endParaRPr lang="en-US" sz="9870" dirty="0"/>
          </a:p>
        </p:txBody>
      </p:sp>
      <p:sp>
        <p:nvSpPr>
          <p:cNvPr id="5" name="Text 2"/>
          <p:cNvSpPr/>
          <p:nvPr/>
        </p:nvSpPr>
        <p:spPr>
          <a:xfrm>
            <a:off x="1249680" y="7366000"/>
            <a:ext cx="1143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11张表设计 / 50+ API端点</a:t>
            </a:r>
            <a:endParaRPr lang="en-US" sz="373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容器化部署 / 完整测试体系</a:t>
            </a:r>
            <a:endParaRPr lang="en-US" sz="373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551" r="14509"/>
          <a:stretch>
            <a:fillRect/>
          </a:stretch>
        </p:blipFill>
        <p:spPr>
          <a:xfrm>
            <a:off x="13147675" y="76200"/>
            <a:ext cx="11236325" cy="136398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317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数据库设计与API核心端点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1249680" y="2286000"/>
          <a:ext cx="13970000" cy="5334000"/>
        </p:xfrm>
        <a:graphic>
          <a:graphicData uri="http://schemas.openxmlformats.org/drawingml/2006/table">
            <a:tbl>
              <a:tblPr/>
              <a:tblGrid>
                <a:gridCol w="3911600"/>
                <a:gridCol w="10058400"/>
              </a:tblGrid>
              <a:tr h="638038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292929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领域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292929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数据表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用户与社交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users（用户表）/ friends（好友关系）/ groups（群组）/ group_members（成员）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消息与可靠性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messages（消息表，含状态追踪）/ message_outbox（发件箱，Outbox Pattern）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AI与技能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bot_skills（技能配置）/ bot_active_modes（活跃模式）/ group_bot_auto_chat（群Bot关联）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117399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记忆与向量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bot_long_term_memory（长期记忆）/ conversation_embeddings（向量表，RAG检索）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49680" y="8128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Bot系统核心API（20+端点）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9680" y="8890000"/>
            <a:ext cx="1397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基础CRUD / 聊天记录导入 / Skill管理 / 厂商配置 / 活跃模式 / 流式对话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记忆管理 / RAG配置 / 性能测试 / 系统监控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510000" y="3175000"/>
            <a:ext cx="317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DeepSeek</a:t>
            </a:r>
            <a:endParaRPr lang="en-US" sz="16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5015" y="4407535"/>
            <a:ext cx="7405370" cy="360172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63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性能指标与部署运维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1249680" y="2286000"/>
            <a:ext cx="3556000" cy="2032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249680" y="2413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324</a:t>
            </a:r>
            <a:endParaRPr lang="en-US" sz="16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249680" y="34290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REST API QPS</a:t>
            </a:r>
            <a:endParaRPr lang="en-US" sz="16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5308600" y="2286000"/>
            <a:ext cx="3556000" cy="2032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5308600" y="2413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53ms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308600" y="34290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P95延迟</a:t>
            </a: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9372600" y="2286000"/>
            <a:ext cx="3556000" cy="2032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9372600" y="2413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1000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9372600" y="34290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WS并发连接</a:t>
            </a:r>
            <a:endParaRPr lang="en-US" sz="160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13436600" y="2286000"/>
            <a:ext cx="3556000" cy="2032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3436600" y="2413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951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3436600" y="34290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消息吞吐 msg/s</a:t>
            </a:r>
            <a:endParaRPr lang="en-US" sz="16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17500600" y="2286000"/>
            <a:ext cx="3556000" cy="2032000"/>
          </a:xfrm>
          <a:prstGeom prst="rect">
            <a:avLst/>
          </a:prstGeom>
          <a:solidFill>
            <a:srgbClr val="1A3A4A"/>
          </a:solidFill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7500600" y="2413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290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7500600" y="34290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Bot并发(0错误)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9680" y="4826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性能优化手段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9680" y="5588000"/>
            <a:ext cx="10922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多级记忆缓存（L0-L3四层 + LLM自动整合）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Skill缓存：ConcurrentHashMap + TTL 60s（0ms命中）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LLM响应缓存：hash(key) + TTL 180s（2ms命中）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Prompt压缩：前5000 + 后3000字符，token减半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HTTP连接池：Apache HttpClient 5，省200-400ms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436600" y="4826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Docker Compose一键部署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436600" y="5588000"/>
            <a:ext cx="97028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MySQL 8.4（数据持久化）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Redis 7（缓存 + 消息队列）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RabbitMQ 3（STOMP插件）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Spring Boot后端（8080端口）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• Vue前端 + Nginx（80端口）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9680" y="9144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完整测试体系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49680" y="9906000"/>
            <a:ext cx="218821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全链路压测（1377行）/ Bot并发压测（670行）/ 渐进式负载测试（662行）/ 最大QPS测试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Bot集成测试（Linux/Mac/Windows）/ WebSocket流式测试 / 功能/并发/时间/故障四维覆盖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性能指标与部署运维</a:t>
            </a:r>
            <a:endParaRPr lang="en-US" sz="56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6190" y="1914525"/>
            <a:ext cx="17390745" cy="1127188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317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性能指标与部署运维</a:t>
            </a:r>
            <a:endParaRPr lang="en-US" sz="5600" dirty="0"/>
          </a:p>
        </p:txBody>
      </p:sp>
      <p:pic>
        <p:nvPicPr>
          <p:cNvPr id="26" name="图片 25" descr="C:/Users/L/Pictures/联想截图/联想截图_20260602154614.png联想截图_20260602154614"/>
          <p:cNvPicPr>
            <a:picLocks noChangeAspect="1"/>
          </p:cNvPicPr>
          <p:nvPr/>
        </p:nvPicPr>
        <p:blipFill>
          <a:blip r:embed="rId1"/>
          <a:srcRect l="1200" r="1200"/>
          <a:stretch>
            <a:fillRect/>
          </a:stretch>
        </p:blipFill>
        <p:spPr>
          <a:xfrm>
            <a:off x="2536190" y="1752600"/>
            <a:ext cx="17390745" cy="1127188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317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性能指标与部署运维</a:t>
            </a:r>
            <a:endParaRPr lang="en-US" sz="5600" dirty="0"/>
          </a:p>
        </p:txBody>
      </p:sp>
      <p:pic>
        <p:nvPicPr>
          <p:cNvPr id="26" name="图片 25" descr="C:/Users/L/Pictures/联想截图/联想截图_20260602154705.png联想截图_20260602154705"/>
          <p:cNvPicPr>
            <a:picLocks noChangeAspect="1"/>
          </p:cNvPicPr>
          <p:nvPr/>
        </p:nvPicPr>
        <p:blipFill>
          <a:blip r:embed="rId1"/>
          <a:srcRect l="438" t="-215" r="486" b="-12811"/>
          <a:stretch>
            <a:fillRect/>
          </a:stretch>
        </p:blipFill>
        <p:spPr>
          <a:xfrm>
            <a:off x="4258310" y="1996440"/>
            <a:ext cx="15278100" cy="1275461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317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性能指标与部署运维</a:t>
            </a:r>
            <a:endParaRPr lang="en-US" sz="5600" dirty="0"/>
          </a:p>
        </p:txBody>
      </p:sp>
      <p:pic>
        <p:nvPicPr>
          <p:cNvPr id="3" name="图片 2" descr="C:/Users/L/Pictures/联想截图/联想截图_20260602154746.png联想截图_20260602154746"/>
          <p:cNvPicPr>
            <a:picLocks noChangeAspect="1"/>
          </p:cNvPicPr>
          <p:nvPr/>
        </p:nvPicPr>
        <p:blipFill>
          <a:blip r:embed="rId1"/>
          <a:srcRect t="-6478" r="-9159" b="-11690"/>
          <a:stretch>
            <a:fillRect/>
          </a:stretch>
        </p:blipFill>
        <p:spPr>
          <a:xfrm>
            <a:off x="4308475" y="1234440"/>
            <a:ext cx="15767050" cy="1319212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性能指标与部署运维</a:t>
            </a:r>
            <a:endParaRPr lang="en-US" sz="5600" dirty="0"/>
          </a:p>
        </p:txBody>
      </p:sp>
      <p:pic>
        <p:nvPicPr>
          <p:cNvPr id="3" name="图片 2" descr="C:/Users/L/Pictures/联想截图/联想截图_20260602154910.png联想截图_20260602154910"/>
          <p:cNvPicPr>
            <a:picLocks noChangeAspect="1"/>
          </p:cNvPicPr>
          <p:nvPr/>
        </p:nvPicPr>
        <p:blipFill>
          <a:blip r:embed="rId1"/>
          <a:srcRect t="-3006" b="-8968"/>
          <a:stretch>
            <a:fillRect/>
          </a:stretch>
        </p:blipFill>
        <p:spPr>
          <a:xfrm>
            <a:off x="3881755" y="1554480"/>
            <a:ext cx="14798675" cy="1184148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性能指标与部署运维</a:t>
            </a:r>
            <a:endParaRPr lang="en-US" sz="5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952625"/>
            <a:ext cx="14767560" cy="1060894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9600" b="1" kern="0" spc="-120" dirty="0">
                <a:solidFill>
                  <a:srgbClr val="FFFFFF"/>
                </a:solidFill>
                <a:latin typeface="汉仪超粗宋简" panose="02010600000101010101" charset="-122"/>
                <a:ea typeface="汉仪超粗宋简" panose="02010600000101010101" charset="-122"/>
                <a:cs typeface="ZCOOL KuaiLe" panose="00000500000000000000" pitchFamily="34" charset="-120"/>
              </a:rPr>
              <a:t>本地演示</a:t>
            </a:r>
            <a:endParaRPr lang="zh-CN" altLang="en-US" sz="9600" b="1" kern="0" spc="-120" dirty="0">
              <a:solidFill>
                <a:srgbClr val="FFFFFF"/>
              </a:solidFill>
              <a:latin typeface="汉仪超粗宋简" panose="02010600000101010101" charset="-122"/>
              <a:ea typeface="汉仪超粗宋简" panose="02010600000101010101" charset="-122"/>
              <a:cs typeface="ZCOOL KuaiLe" panose="00000500000000000000" pitchFamily="34" charset="-12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49680" y="4064000"/>
            <a:ext cx="254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49680" y="5334000"/>
            <a:ext cx="1270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团队协作与展望</a:t>
            </a:r>
            <a:endParaRPr lang="en-US" sz="9870" dirty="0"/>
          </a:p>
        </p:txBody>
      </p:sp>
      <p:sp>
        <p:nvSpPr>
          <p:cNvPr id="5" name="Text 2"/>
          <p:cNvSpPr/>
          <p:nvPr/>
        </p:nvSpPr>
        <p:spPr>
          <a:xfrm>
            <a:off x="1249680" y="7366000"/>
            <a:ext cx="1143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6人均衡协作</a:t>
            </a:r>
            <a:endParaRPr lang="en-US" sz="3730" dirty="0"/>
          </a:p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21,633行代码 | 162个文件 | 19次提交</a:t>
            </a:r>
            <a:endParaRPr lang="en-US" sz="3730" dirty="0"/>
          </a:p>
        </p:txBody>
      </p:sp>
      <p:pic>
        <p:nvPicPr>
          <p:cNvPr id="6" name="图片 5" descr="ef7edd351baaf202de68f4328353784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2275" y="0"/>
            <a:ext cx="12333605" cy="13986510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softEdge rad="317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项目亮点与团队分工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841500"/>
            <a:ext cx="1524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Text 2"/>
          <p:cNvSpPr/>
          <p:nvPr/>
        </p:nvSpPr>
        <p:spPr>
          <a:xfrm>
            <a:off x="1249680" y="2159000"/>
            <a:ext cx="508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五大核心亮点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9680" y="3048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1651000" y="2921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创新AI功能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：聊天记录→Bot完整自动化流程，多级记忆系统模拟人脑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4445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8" name="Text 6"/>
          <p:cNvSpPr/>
          <p:nvPr/>
        </p:nvSpPr>
        <p:spPr>
          <a:xfrm>
            <a:off x="1651000" y="4318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高可靠性设计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：Outbox Pattern、多层登录保护、全链路traceId追踪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9680" y="5842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1651000" y="5715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高并发处理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：QPS 324 / WS并发1000 / 消息吞吐951 msg/s / Bot并发290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9680" y="7239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2" name="Text 10"/>
          <p:cNvSpPr/>
          <p:nvPr/>
        </p:nvSpPr>
        <p:spPr>
          <a:xfrm>
            <a:off x="1651000" y="7112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完整工程化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：Docker容器化、完整测试体系、详细文档、Nginx反向代理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9680" y="8636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4" name="Text 12"/>
          <p:cNvSpPr/>
          <p:nvPr/>
        </p:nvSpPr>
        <p:spPr>
          <a:xfrm>
            <a:off x="1651000" y="8509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分布式系统设计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：WebSocket双模式、故障降级、可扩展架构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4000" y="2159000"/>
            <a:ext cx="635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6人团队分工</a:t>
            </a:r>
            <a:endParaRPr lang="en-US" sz="16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11684000" y="2921000"/>
          <a:ext cx="1143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1249680" y="9906000"/>
            <a:ext cx="218821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eeeeeeeex1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：JWT认证 / LLM客户端 / RAG检索　　</a:t>
            </a: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Ismweirdo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：WebSocket / 聊天界面 / 聊天记录导入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Jungle-Cristo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：消息持久化 / 登录保护 / Docker部署　</a:t>
            </a: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Jay7982024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：社交功能 / AI技能蒸馏 / 项目文档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Yuanxiaelf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：社交前端 / Bot核心引擎 / REST API　　</a:t>
            </a:r>
            <a:r>
              <a:rPr lang="en-US" sz="26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kuuzzzzzzzzzz</a:t>
            </a:r>
            <a:r>
              <a:rPr lang="en-US" sz="260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：数据库设计 / 长期记忆 / Bot测试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10" grpId="0"/>
      <p:bldP spid="12" grpId="0"/>
      <p:bldP spid="14" grpId="0"/>
      <p:bldP spid="15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zgo2hyw6fjeg/mnt/agents/output/ai-chat-system/images/7_Dark_blue_technology_background_Images.png"/>
          <p:cNvPicPr>
            <a:picLocks noChangeAspect="1"/>
          </p:cNvPicPr>
          <p:nvPr/>
        </p:nvPicPr>
        <p:blipFill>
          <a:blip r:embed="rId1"/>
          <a:srcRect l="22858" r="22858"/>
          <a:stretch>
            <a:fillRect/>
          </a:stretch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87400" y="3556000"/>
            <a:ext cx="8890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感谢聆听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Thank You</a:t>
            </a:r>
            <a:endParaRPr lang="en-US" sz="9870" dirty="0"/>
          </a:p>
        </p:txBody>
      </p:sp>
      <p:sp>
        <p:nvSpPr>
          <p:cNvPr id="4" name="Text 1"/>
          <p:cNvSpPr/>
          <p:nvPr/>
        </p:nvSpPr>
        <p:spPr>
          <a:xfrm>
            <a:off x="13487400" y="7366000"/>
            <a:ext cx="8890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21,633行代码 | 162个文件 | 6人协作 | 2-3周开发</a:t>
            </a:r>
            <a:endParaRPr lang="en-US" sz="3730" dirty="0"/>
          </a:p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Java 57.1% | Python 18.5% | Vue 17.5%</a:t>
            </a:r>
            <a:endParaRPr lang="en-US" sz="3730" dirty="0"/>
          </a:p>
        </p:txBody>
      </p:sp>
      <p:sp>
        <p:nvSpPr>
          <p:cNvPr id="5" name="Text 2"/>
          <p:cNvSpPr/>
          <p:nvPr/>
        </p:nvSpPr>
        <p:spPr>
          <a:xfrm>
            <a:off x="13487400" y="9779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快速启动：docker-compose up -d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487400" y="10668000"/>
            <a:ext cx="889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930" dirty="0">
                <a:solidFill>
                  <a:srgbClr val="FFFFFF"/>
                </a:solidFill>
                <a:latin typeface="ZCOOL KuaiLe" panose="00000500000000000000" pitchFamily="34" charset="0"/>
                <a:ea typeface="ZCOOL KuaiLe" panose="00000500000000000000" pitchFamily="34" charset="-122"/>
                <a:cs typeface="ZCOOL KuaiLe" panose="00000500000000000000" pitchFamily="34" charset="-120"/>
              </a:rPr>
              <a:t>感谢团队所有成员的分工合作</a:t>
            </a:r>
            <a:endParaRPr lang="en-US" sz="1600" dirty="0"/>
          </a:p>
          <a:p>
            <a:pPr>
              <a:lnSpc>
                <a:spcPct val="16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2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3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4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5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6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7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8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9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10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11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12.xml><?xml version="1.0" encoding="utf-8"?>
<p:tagLst xmlns:p="http://schemas.openxmlformats.org/presentationml/2006/main">
  <p:tag name="KSO_WM_DIAGRAM_VIRTUALLY_FRAME" val="{&quot;height&quot;:345,&quot;left&quot;:98.4,&quot;top&quot;:180,&quot;width&quot;:1021.6}"/>
</p:tagLst>
</file>

<file path=ppt/tags/tag13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14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15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16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17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18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19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20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21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22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23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24.xml><?xml version="1.0" encoding="utf-8"?>
<p:tagLst xmlns:p="http://schemas.openxmlformats.org/presentationml/2006/main">
  <p:tag name="KSO_WM_DIAGRAM_VIRTUALLY_FRAME" val="{&quot;height&quot;:250,&quot;left&quot;:98.4,&quot;top&quot;:180,&quot;width&quot;:1723.6}"/>
</p:tagLst>
</file>

<file path=ppt/tags/tag25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26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27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28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29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0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1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2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3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4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5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6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7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8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ags/tag39.xml><?xml version="1.0" encoding="utf-8"?>
<p:tagLst xmlns:p="http://schemas.openxmlformats.org/presentationml/2006/main">
  <p:tag name="KSO_WM_DIAGRAM_VIRTUALLY_FRAME" val="{&quot;height&quot;:160,&quot;left&quot;:98.4,&quot;top&quot;:180,&quot;width&quot;:1559.6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4687</Words>
  <Application>WPS 演示</Application>
  <PresentationFormat>On-screen Show (16:9)</PresentationFormat>
  <Paragraphs>406</Paragraphs>
  <Slides>25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ZCOOL KuaiLe</vt:lpstr>
      <vt:lpstr>ZCOOL KuaiLe</vt:lpstr>
      <vt:lpstr>ZCOOL KuaiLe</vt:lpstr>
      <vt:lpstr>Liter</vt:lpstr>
      <vt:lpstr>Liter</vt:lpstr>
      <vt:lpstr>Liter</vt:lpstr>
      <vt:lpstr>Arial</vt:lpstr>
      <vt:lpstr>Calibri</vt:lpstr>
      <vt:lpstr>微软雅黑</vt:lpstr>
      <vt:lpstr>Arial Unicode MS</vt:lpstr>
      <vt:lpstr>等线</vt:lpstr>
      <vt:lpstr>汉仪超粗宋简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即时通讯系统 - Distributed Software Systems</dc:title>
  <dc:creator>Kimi</dc:creator>
  <dc:subject>AI 即时通讯系统 - Distributed Software Systems</dc:subject>
  <cp:lastModifiedBy>刘霄</cp:lastModifiedBy>
  <cp:revision>4</cp:revision>
  <dcterms:created xsi:type="dcterms:W3CDTF">2026-06-02T07:13:00Z</dcterms:created>
  <dcterms:modified xsi:type="dcterms:W3CDTF">2026-06-02T07:58:27Z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即时通讯系统 - Distributed Software Systems","ContentProducer":"001191110108MACG2KBH8F10000","ProduceID":"19e87217-4d52-8aeb-8000-0000dd2337b8","ReservedCode1":"","ContentPropagator":"001191110108MACG2KBH8F20000","PropagateID":"19e87217-4d52-8aeb-8000-0000dd2337b8","ReservedCode2":""}</vt:lpwstr>
  </property>
  <property fmtid="{D5CDD505-2E9C-101B-9397-08002B2CF9AE}" pid="3" name="ICV">
    <vt:lpwstr>37EBDA1E23674D78B4731A6D2E9EEA49_13</vt:lpwstr>
  </property>
  <property fmtid="{D5CDD505-2E9C-101B-9397-08002B2CF9AE}" pid="4" name="KSOProductBuildVer">
    <vt:lpwstr>2052-12.1.0.23542</vt:lpwstr>
  </property>
</Properties>
</file>